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Poppins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  <p:embeddedFont>
      <p:font typeface="Poppins SemiBold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22" Type="http://schemas.openxmlformats.org/officeDocument/2006/relationships/font" Target="fonts/PoppinsSemiBold-regular.fntdata"/><Relationship Id="rId21" Type="http://schemas.openxmlformats.org/officeDocument/2006/relationships/font" Target="fonts/Lato-boldItalic.fntdata"/><Relationship Id="rId24" Type="http://schemas.openxmlformats.org/officeDocument/2006/relationships/font" Target="fonts/PoppinsSemiBold-italic.fntdata"/><Relationship Id="rId23" Type="http://schemas.openxmlformats.org/officeDocument/2006/relationships/font" Target="fonts/Poppins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Poppins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Poppins-bold.fntdata"/><Relationship Id="rId14" Type="http://schemas.openxmlformats.org/officeDocument/2006/relationships/font" Target="fonts/Poppins-regular.fntdata"/><Relationship Id="rId17" Type="http://schemas.openxmlformats.org/officeDocument/2006/relationships/font" Target="fonts/Poppins-boldItalic.fntdata"/><Relationship Id="rId16" Type="http://schemas.openxmlformats.org/officeDocument/2006/relationships/font" Target="fonts/Poppins-italic.fntdata"/><Relationship Id="rId19" Type="http://schemas.openxmlformats.org/officeDocument/2006/relationships/font" Target="fonts/Lato-bold.fntdata"/><Relationship Id="rId18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Relationship Id="rId6" Type="http://schemas.openxmlformats.org/officeDocument/2006/relationships/image" Target="../media/image25.png"/><Relationship Id="rId7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6.png"/><Relationship Id="rId6" Type="http://schemas.openxmlformats.org/officeDocument/2006/relationships/image" Target="../media/image31.png"/><Relationship Id="rId7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11" Type="http://schemas.openxmlformats.org/officeDocument/2006/relationships/image" Target="../media/image16.png"/><Relationship Id="rId10" Type="http://schemas.openxmlformats.org/officeDocument/2006/relationships/image" Target="../media/image7.png"/><Relationship Id="rId12" Type="http://schemas.openxmlformats.org/officeDocument/2006/relationships/image" Target="../media/image18.png"/><Relationship Id="rId9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10.png"/><Relationship Id="rId8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0.png"/><Relationship Id="rId10" Type="http://schemas.openxmlformats.org/officeDocument/2006/relationships/image" Target="../media/image28.png"/><Relationship Id="rId9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7.png"/><Relationship Id="rId8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81475" y="4188916"/>
            <a:ext cx="3829050" cy="13906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050744" y="1278284"/>
            <a:ext cx="4090511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Interview</a:t>
            </a:r>
            <a:r>
              <a:rPr b="1" i="0" lang="en-US" sz="52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AI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505200" y="2573684"/>
            <a:ext cx="5181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基于大模型的智能面试辅助与评测平台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486275" y="3204120"/>
            <a:ext cx="32194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《Web后端开发》期末项目汇报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572000" y="4579441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汇报人：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陈柯杰 (组长)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572000" y="5074741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小组成员：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赵钟煜、高莹丽、章李炜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812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647700" y="20621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2062162"/>
            <a:ext cx="50958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“Headcount”冻结与门槛飙升：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互联网企业招聘全面收紧，对候选人的技术深度、底层逻辑与业务场景应用要求极具攀升。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47700" y="30908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62000" y="3090862"/>
            <a:ext cx="5095875" cy="1733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传统备考模式（背诵八股文）彻底失效：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47700" y="49387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4938712"/>
            <a:ext cx="50958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高质量反馈的严重缺失：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学生日常演练往往是“单向背书”，无法获得资深专家的逻辑纠错和定制化高分指导，成长缓慢。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9073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838200" y="34909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○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52500" y="3490912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死记硬背无法应对大厂面试官的“深度场景假设”和“连环追问”。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38200" y="42148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○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52500" y="4214812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缺乏高压实战环境模拟，面试时容易因为紧张导致大脑空白。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71500" y="47625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研发背景与行业挑战 (Background)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81225"/>
            <a:ext cx="5286375" cy="3609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81225"/>
            <a:ext cx="5286375" cy="360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962025" y="2571750"/>
            <a:ext cx="473059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43F5E"/>
                </a:solidFill>
                <a:latin typeface="Poppins"/>
                <a:ea typeface="Poppins"/>
                <a:cs typeface="Poppins"/>
                <a:sym typeface="Poppins"/>
              </a:rPr>
              <a:t>传统工具的局限性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962025" y="3038475"/>
            <a:ext cx="4505325" cy="9525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962025" y="3238500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单一的客观代码评测：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主流平台（如 LeetCode）仅能判定代码是否能跑通（AC），无法评估架构设计、系统调优等主观维度的逻辑思维。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62025" y="4343400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人工模拟成本极高：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寻找业内资深前辈进行 1v1 模拟面试的沟通、时间以及经济成本巨大，无法作为高频日常训练方式。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724650" y="2571750"/>
            <a:ext cx="473059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我们的 AIGC 降维打击方案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6724650" y="3038475"/>
            <a:ext cx="4505325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6724650" y="3238500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大语言模型（LLM）驱动：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打造 24 小时随时待命的“AI 技术总监”，利用强大的上下文理解能力，深度评测主观题与系统设计题。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724650" y="4343400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学习与诊断闭环：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演练结束后秒级输出包含多维打分的“体检报告”，并智能对齐大厂标准，生成“高分范例”与“薄弱点改进计划”。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571500" y="47625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核心痛点对标与解决方案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2" name="Google Shape;132;p16"/>
          <p:cNvGrpSpPr/>
          <p:nvPr/>
        </p:nvGrpSpPr>
        <p:grpSpPr>
          <a:xfrm>
            <a:off x="571500" y="1619250"/>
            <a:ext cx="11049000" cy="4000500"/>
            <a:chOff x="571500" y="1619250"/>
            <a:chExt cx="11049000" cy="4000500"/>
          </a:xfrm>
        </p:grpSpPr>
        <p:sp>
          <p:nvSpPr>
            <p:cNvPr id="133" name="Google Shape;133;p16"/>
            <p:cNvSpPr/>
            <p:nvPr/>
          </p:nvSpPr>
          <p:spPr>
            <a:xfrm>
              <a:off x="571500" y="1619250"/>
              <a:ext cx="5334000" cy="1905000"/>
            </a:xfrm>
            <a:prstGeom prst="roundRect">
              <a:avLst>
                <a:gd fmla="val 6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6286500" y="1619250"/>
              <a:ext cx="5334000" cy="1905000"/>
            </a:xfrm>
            <a:prstGeom prst="roundRect">
              <a:avLst>
                <a:gd fmla="val 6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6"/>
            <p:cNvSpPr/>
            <p:nvPr/>
          </p:nvSpPr>
          <p:spPr>
            <a:xfrm>
              <a:off x="571500" y="3714750"/>
              <a:ext cx="5334000" cy="1905000"/>
            </a:xfrm>
            <a:prstGeom prst="roundRect">
              <a:avLst>
                <a:gd fmla="val 6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6"/>
            <p:cNvSpPr/>
            <p:nvPr/>
          </p:nvSpPr>
          <p:spPr>
            <a:xfrm>
              <a:off x="6286500" y="3714750"/>
              <a:ext cx="5334000" cy="1905000"/>
            </a:xfrm>
            <a:prstGeom prst="roundRect">
              <a:avLst>
                <a:gd fmla="val 6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" name="Google Shape;137;p16"/>
          <p:cNvSpPr txBox="1"/>
          <p:nvPr/>
        </p:nvSpPr>
        <p:spPr>
          <a:xfrm>
            <a:off x="1143000" y="1905000"/>
            <a:ext cx="4572000" cy="661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底层核心框架</a:t>
            </a:r>
            <a:endParaRPr b="1" sz="1400">
              <a:solidFill>
                <a:srgbClr val="38BDF8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Spring Boot 3.x + Java 17。全面拥抱最新技术栈，利用 AOT 编译等新特性提升应用性能与启动速度。</a:t>
            </a:r>
            <a:endParaRPr sz="120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6477000" y="1905000"/>
            <a:ext cx="4572000" cy="661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全局安全与鉴权</a:t>
            </a:r>
            <a:endParaRPr b="1" sz="1400">
              <a:solidFill>
                <a:srgbClr val="38BDF8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Spring Security。实现 RBAC 角色模型隔离，拦截未授权的越权访问，确保密码 BCrypt 强哈希加密落地。</a:t>
            </a:r>
            <a:endParaRPr sz="120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1143000" y="4000500"/>
            <a:ext cx="4572000" cy="661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数据持久化基石</a:t>
            </a:r>
            <a:endParaRPr b="1" sz="1400">
              <a:solidFill>
                <a:srgbClr val="38BDF8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Spring Data JPA + MySQL 8.0。依托高度封装的 ORM 机制，摒弃易错的拼接 SQL，实现安全的防注入持久化操作。</a:t>
            </a:r>
            <a:endParaRPr sz="120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6477000" y="4000500"/>
            <a:ext cx="4572000" cy="661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AI 大脑适配层</a:t>
            </a:r>
            <a:endParaRPr b="1" sz="1400">
              <a:solidFill>
                <a:srgbClr val="38BDF8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RESTful API 异步对接。通过严谨的 Prompt（提示词工程），稳定对接外部一流大模型，实现自然语言生成与抽取。</a:t>
            </a:r>
            <a:endParaRPr sz="120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1" name="Google Shape;141;p16"/>
          <p:cNvPicPr preferRelativeResize="0"/>
          <p:nvPr/>
        </p:nvPicPr>
        <p:blipFill rotWithShape="1">
          <a:blip r:embed="rId4">
            <a:alphaModFix/>
          </a:blip>
          <a:srcRect b="13794" l="0" r="0" t="13794"/>
          <a:stretch/>
        </p:blipFill>
        <p:spPr>
          <a:xfrm>
            <a:off x="762000" y="19050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/>
          <p:cNvPicPr preferRelativeResize="0"/>
          <p:nvPr/>
        </p:nvPicPr>
        <p:blipFill rotWithShape="1">
          <a:blip r:embed="rId5">
            <a:alphaModFix/>
          </a:blip>
          <a:srcRect b="1719" l="0" r="0" t="1728"/>
          <a:stretch/>
        </p:blipFill>
        <p:spPr>
          <a:xfrm>
            <a:off x="6096000" y="19050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/>
          <p:cNvPicPr preferRelativeResize="0"/>
          <p:nvPr/>
        </p:nvPicPr>
        <p:blipFill rotWithShape="1">
          <a:blip r:embed="rId6">
            <a:alphaModFix/>
          </a:blip>
          <a:srcRect b="6897" l="0" r="0" t="6897"/>
          <a:stretch/>
        </p:blipFill>
        <p:spPr>
          <a:xfrm>
            <a:off x="762000" y="40005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/>
          <p:cNvPicPr preferRelativeResize="0"/>
          <p:nvPr/>
        </p:nvPicPr>
        <p:blipFill rotWithShape="1">
          <a:blip r:embed="rId7">
            <a:alphaModFix/>
          </a:blip>
          <a:srcRect b="1719" l="0" r="0" t="1728"/>
          <a:stretch/>
        </p:blipFill>
        <p:spPr>
          <a:xfrm>
            <a:off x="6096000" y="40005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71500" y="47625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核心技术栈与工程规范 (Tech Stack)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571500" y="1190625"/>
            <a:ext cx="11049000" cy="19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/>
          <p:nvPr/>
        </p:nvSpPr>
        <p:spPr>
          <a:xfrm>
            <a:off x="571500" y="1428750"/>
            <a:ext cx="11049000" cy="1047900"/>
          </a:xfrm>
          <a:prstGeom prst="roundRect">
            <a:avLst>
              <a:gd fmla="val 7272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571500" y="2619375"/>
            <a:ext cx="11049000" cy="1047900"/>
          </a:xfrm>
          <a:prstGeom prst="roundRect">
            <a:avLst>
              <a:gd fmla="val 7272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571500" y="3810000"/>
            <a:ext cx="11049000" cy="1047900"/>
          </a:xfrm>
          <a:prstGeom prst="roundRect">
            <a:avLst>
              <a:gd fmla="val 7272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571500" y="5000625"/>
            <a:ext cx="11049000" cy="1047900"/>
          </a:xfrm>
          <a:prstGeom prst="roundRect">
            <a:avLst>
              <a:gd fmla="val 7272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1238250" y="1524000"/>
            <a:ext cx="100014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【动态视图展示层】 </a:t>
            </a:r>
            <a:r>
              <a:rPr b="0" lang="en-US" sz="14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基于 Thymeleaf 引擎与 Bootstrap 组件构建。负责接收用户输入，发起携带认证 Token 的 Ajax/HTTP 请求。</a:t>
            </a:r>
            <a:endParaRPr sz="1400">
              <a:solidFill>
                <a:srgbClr val="F8FAF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1238250" y="2714625"/>
            <a:ext cx="100014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【控制分发与安全层】 </a:t>
            </a:r>
            <a:r>
              <a:rPr b="0" lang="en-US" sz="14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核心的 Spring MVC 控制器。执行全局路由解析，结合 Security 校验 Session 状态，并将前端入参转换为 DTO 对象。</a:t>
            </a:r>
            <a:endParaRPr sz="1400">
              <a:solidFill>
                <a:srgbClr val="F8FAF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1238250" y="3905250"/>
            <a:ext cx="100014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【核心业务与AI适配层】 </a:t>
            </a:r>
            <a:r>
              <a:rPr b="0" lang="en-US" sz="14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Service 模块处理组装业务逻辑（如题库检索）；AI 客户端层负责处理请求超时重试、异步回调以及 JSON 数据解析。</a:t>
            </a:r>
            <a:endParaRPr sz="1400">
              <a:solidFill>
                <a:srgbClr val="F8FAF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1238250" y="5095875"/>
            <a:ext cx="100014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【关系型数据持久层】 </a:t>
            </a:r>
            <a:r>
              <a:rPr b="0" lang="en-US" sz="14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封装好的 Repository 接口根据底层 Entity 映射规则，结合事务控制（@Transactional），安全、高并发地将数据存入 MySQL。</a:t>
            </a:r>
            <a:endParaRPr sz="1400">
              <a:solidFill>
                <a:srgbClr val="F8FAFC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0" name="Google Shape;16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" y="1809750"/>
            <a:ext cx="304800" cy="2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5">
            <a:alphaModFix/>
          </a:blip>
          <a:srcRect b="209" l="0" r="0" t="219"/>
          <a:stretch/>
        </p:blipFill>
        <p:spPr>
          <a:xfrm>
            <a:off x="809625" y="3000375"/>
            <a:ext cx="304800" cy="3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" y="4191000"/>
            <a:ext cx="333300" cy="2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/>
          <p:cNvPicPr preferRelativeResize="0"/>
          <p:nvPr/>
        </p:nvPicPr>
        <p:blipFill rotWithShape="1">
          <a:blip r:embed="rId7">
            <a:alphaModFix/>
          </a:blip>
          <a:srcRect b="209" l="0" r="0" t="219"/>
          <a:stretch/>
        </p:blipFill>
        <p:spPr>
          <a:xfrm>
            <a:off x="809625" y="5381625"/>
            <a:ext cx="304800" cy="3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571500" y="47625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系统架构概览 (Architecture)</a:t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571500" y="1190625"/>
            <a:ext cx="11049000" cy="19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46076"/>
            <a:ext cx="3429000" cy="40802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946076"/>
            <a:ext cx="3429000" cy="40802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1946076"/>
            <a:ext cx="3429000" cy="40802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2193726"/>
            <a:ext cx="29337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29150" y="2193726"/>
            <a:ext cx="29337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39150" y="2193726"/>
            <a:ext cx="29337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819150" y="4289226"/>
            <a:ext cx="308038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模块一：智能题库系统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819150" y="4803576"/>
            <a:ext cx="293370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具备安全的注册与注销机制。管理员与用户权限彻底隔离；提供按后端、前端等技术栈精准划分的面试题库，支持关键字高亮检索与答案收藏。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4629150" y="4289226"/>
            <a:ext cx="308038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模块二：沉浸式对线面试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4629150" y="4803576"/>
            <a:ext cx="293370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动态注入“苛刻的技术专家”人设。打破死板单向问答，系统会根据用户的上一句发言，敏锐捕捉逻辑漏洞并进行“连环施压式追问”，还原真实的高压环境。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8439150" y="4289226"/>
            <a:ext cx="308038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模块三：多维评估看板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8439150" y="4803576"/>
            <a:ext cx="293370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面谈结束触发算力分析。从基础概念、底层源码、系统设计等六大维度绘制能力雷达图，精确定位技术盲区，并输出详尽的大厂标杆级对比答案。</a:t>
            </a:r>
            <a:endParaRPr/>
          </a:p>
        </p:txBody>
      </p:sp>
      <p:pic>
        <p:nvPicPr>
          <p:cNvPr descr="image.png" id="183" name="Google Shape;183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19150" y="2193726"/>
            <a:ext cx="29337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29150" y="2193726"/>
            <a:ext cx="29337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39150" y="2193726"/>
            <a:ext cx="29337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571500" y="47625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5. 核心业务功能展示</a:t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57412"/>
            <a:ext cx="5381625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157412"/>
            <a:ext cx="5381625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81462"/>
            <a:ext cx="5381625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4081462"/>
            <a:ext cx="5381625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819150" y="2405062"/>
            <a:ext cx="513064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陈柯杰 (组长) | 架构与全栈支撑</a:t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819150" y="2795587"/>
            <a:ext cx="4886325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819150" y="2957512"/>
            <a:ext cx="48863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统筹把控项目进度，搭建 Spring Boot 基础骨架；深度配置 Spring Security 拦截器实现登录鉴权与防跨站攻击；主导封装 HTTP 客户端安全对接大模型 API，解决异步流传输问题。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6486525" y="2405062"/>
            <a:ext cx="513064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19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赵钟煜 | 前端工程与视图交互</a:t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6486525" y="2795587"/>
            <a:ext cx="4886325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6486525" y="2957512"/>
            <a:ext cx="48863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基于 Thymeleaf 和 Bootstrap 5 落地全套高保真响应式界面；负责实现表单的数据绑定与页面间的动态路由回显；攻克 AI 聊天对话框的 Ajax 异步交互与打字机特效渲染逻辑。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819150" y="4329112"/>
            <a:ext cx="513064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高莹丽 | 数据库建模与持久层</a:t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819150" y="4719637"/>
            <a:ext cx="4886325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819150" y="4881562"/>
            <a:ext cx="48863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主导关系型数据库 MySQL 的核心库表设计，规避冗余字段；利用 JPA 注解严谨编写实体类映射，打通题库管理与面试记录模块的底层 CRUD 操作；处理异常回滚与事务。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6486525" y="4329112"/>
            <a:ext cx="513064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19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章李炜 | 提示词工程与QA测试</a:t>
            </a: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6486525" y="4719637"/>
            <a:ext cx="4886325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6486525" y="4881562"/>
            <a:ext cx="48863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负责大语言模型（LLM）提示词（Prompt）工程的反复调试与边界测试，确保 AI 角色扮演不脱轨；负责系统各模块的全链路集成测试验证，并撰写项目演示方案及总结文档。</a:t>
            </a:r>
            <a:endParaRPr/>
          </a:p>
        </p:txBody>
      </p:sp>
      <p:pic>
        <p:nvPicPr>
          <p:cNvPr descr="image.png" id="209" name="Google Shape;20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2452687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86525" y="2452687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9150" y="4376737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86525" y="4376737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9"/>
          <p:cNvSpPr txBox="1"/>
          <p:nvPr/>
        </p:nvSpPr>
        <p:spPr>
          <a:xfrm>
            <a:off x="571500" y="47625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6. 团队分工与精细化协作</a:t>
            </a:r>
            <a:endParaRPr/>
          </a:p>
        </p:txBody>
      </p:sp>
      <p:sp>
        <p:nvSpPr>
          <p:cNvPr id="214" name="Google Shape;214;p19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91112" y="4578697"/>
            <a:ext cx="2009775" cy="54858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3470671" y="1730722"/>
            <a:ext cx="5250656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3667125" y="3502372"/>
            <a:ext cx="4857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演示完毕，欢迎老师与同学们交流指导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